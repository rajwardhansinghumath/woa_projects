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Open Sauce" panose="020B0604020202020204" charset="0"/>
      <p:regular r:id="rId21"/>
    </p:embeddedFont>
    <p:embeddedFont>
      <p:font typeface="Poppins" panose="00000500000000000000" pitchFamily="2" charset="0"/>
      <p:regular r:id="rId22"/>
      <p:bold r:id="rId23"/>
    </p:embeddedFont>
    <p:embeddedFont>
      <p:font typeface="Poppins Bold" panose="00000800000000000000" pitchFamily="2" charset="0"/>
      <p:regular r:id="rId24"/>
      <p:bold r:id="rId25"/>
    </p:embeddedFont>
    <p:embeddedFont>
      <p:font typeface="Poppins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269" y="-3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kaggle.com/datasets/jiayuanchengala/aid-scene-classification-dataset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kaggle.com/datasets/jiayuanchengala/aid-scene-classification-datasets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13612" y="-153732"/>
            <a:ext cx="19762905" cy="11116634"/>
          </a:xfrm>
          <a:custGeom>
            <a:avLst/>
            <a:gdLst/>
            <a:ahLst/>
            <a:cxnLst/>
            <a:rect l="l" t="t" r="r" b="b"/>
            <a:pathLst>
              <a:path w="19762905" h="11116634">
                <a:moveTo>
                  <a:pt x="0" y="0"/>
                </a:moveTo>
                <a:lnTo>
                  <a:pt x="19762905" y="0"/>
                </a:lnTo>
                <a:lnTo>
                  <a:pt x="19762905" y="11116634"/>
                </a:lnTo>
                <a:lnTo>
                  <a:pt x="0" y="1111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3671125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990600"/>
            <a:ext cx="10120816" cy="1374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0"/>
              </a:lnSpc>
            </a:pPr>
            <a:r>
              <a:rPr lang="en-US" sz="880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3055712" y="3171606"/>
            <a:ext cx="14205228" cy="3905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40"/>
              </a:lnSpc>
            </a:pPr>
            <a:r>
              <a:rPr lang="en-US" sz="8807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WHALE </a:t>
            </a:r>
          </a:p>
          <a:p>
            <a:pPr algn="ctr">
              <a:lnSpc>
                <a:spcPts val="10040"/>
              </a:lnSpc>
            </a:pPr>
            <a:r>
              <a:rPr lang="en-US" sz="8807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           OPTIMISATION</a:t>
            </a:r>
          </a:p>
          <a:p>
            <a:pPr algn="ctr">
              <a:lnSpc>
                <a:spcPts val="10040"/>
              </a:lnSpc>
              <a:spcBef>
                <a:spcPct val="0"/>
              </a:spcBef>
            </a:pPr>
            <a:r>
              <a:rPr lang="en-US" sz="8807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                 ALGORITHM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13612" y="-153732"/>
            <a:ext cx="19762905" cy="11116634"/>
          </a:xfrm>
          <a:custGeom>
            <a:avLst/>
            <a:gdLst/>
            <a:ahLst/>
            <a:cxnLst/>
            <a:rect l="l" t="t" r="r" b="b"/>
            <a:pathLst>
              <a:path w="19762905" h="11116634">
                <a:moveTo>
                  <a:pt x="0" y="0"/>
                </a:moveTo>
                <a:lnTo>
                  <a:pt x="19762905" y="0"/>
                </a:lnTo>
                <a:lnTo>
                  <a:pt x="19762905" y="11116634"/>
                </a:lnTo>
                <a:lnTo>
                  <a:pt x="0" y="1111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3639800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990600"/>
            <a:ext cx="10120816" cy="1374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0"/>
              </a:lnSpc>
            </a:pPr>
            <a:r>
              <a:rPr lang="en-US" sz="880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555111"/>
            <a:ext cx="16230600" cy="69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91"/>
              </a:lnSpc>
            </a:pPr>
            <a:r>
              <a:rPr lang="en-US" sz="614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TUSHAR SAMPLA( 24CSB1A70 )</a:t>
            </a:r>
          </a:p>
          <a:p>
            <a:pPr algn="ctr">
              <a:lnSpc>
                <a:spcPts val="10991"/>
              </a:lnSpc>
            </a:pPr>
            <a:r>
              <a:rPr lang="en-US" sz="614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TERLI SOAN SAGAR( 24CSB1A65 )</a:t>
            </a:r>
          </a:p>
          <a:p>
            <a:pPr algn="ctr">
              <a:lnSpc>
                <a:spcPts val="10991"/>
              </a:lnSpc>
            </a:pPr>
            <a:r>
              <a:rPr lang="en-US" sz="614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RAJWARDHAN SINGH ( 24CSB1A52 )</a:t>
            </a:r>
          </a:p>
          <a:p>
            <a:pPr algn="ctr">
              <a:lnSpc>
                <a:spcPts val="10991"/>
              </a:lnSpc>
            </a:pPr>
            <a:r>
              <a:rPr lang="en-US" sz="614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K.AKHIL YADAV ( 24CSB1A26 )</a:t>
            </a:r>
          </a:p>
          <a:p>
            <a:pPr algn="ctr">
              <a:lnSpc>
                <a:spcPts val="10991"/>
              </a:lnSpc>
            </a:pPr>
            <a:endParaRPr lang="en-US" sz="6140" i="1">
              <a:solidFill>
                <a:srgbClr val="000000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13612" y="-153732"/>
            <a:ext cx="19762905" cy="11116634"/>
          </a:xfrm>
          <a:custGeom>
            <a:avLst/>
            <a:gdLst/>
            <a:ahLst/>
            <a:cxnLst/>
            <a:rect l="l" t="t" r="r" b="b"/>
            <a:pathLst>
              <a:path w="19762905" h="11116634">
                <a:moveTo>
                  <a:pt x="0" y="0"/>
                </a:moveTo>
                <a:lnTo>
                  <a:pt x="19762905" y="0"/>
                </a:lnTo>
                <a:lnTo>
                  <a:pt x="19762905" y="11116634"/>
                </a:lnTo>
                <a:lnTo>
                  <a:pt x="0" y="1111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3671125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990600"/>
            <a:ext cx="6114029" cy="3913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0"/>
              </a:lnSpc>
            </a:pPr>
            <a:r>
              <a:rPr lang="en-US" sz="880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Random Walk Search</a:t>
            </a:r>
          </a:p>
        </p:txBody>
      </p:sp>
      <p:sp>
        <p:nvSpPr>
          <p:cNvPr id="5" name="Freeform 5"/>
          <p:cNvSpPr/>
          <p:nvPr/>
        </p:nvSpPr>
        <p:spPr>
          <a:xfrm>
            <a:off x="11845625" y="1540687"/>
            <a:ext cx="4946360" cy="6442738"/>
          </a:xfrm>
          <a:custGeom>
            <a:avLst/>
            <a:gdLst/>
            <a:ahLst/>
            <a:cxnLst/>
            <a:rect l="l" t="t" r="r" b="b"/>
            <a:pathLst>
              <a:path w="4946360" h="6442738">
                <a:moveTo>
                  <a:pt x="0" y="0"/>
                </a:moveTo>
                <a:lnTo>
                  <a:pt x="4946361" y="0"/>
                </a:lnTo>
                <a:lnTo>
                  <a:pt x="4946361" y="6442738"/>
                </a:lnTo>
                <a:lnTo>
                  <a:pt x="0" y="64427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5404585"/>
            <a:ext cx="9862667" cy="2752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93"/>
              </a:lnSpc>
            </a:pPr>
            <a:r>
              <a:rPr lang="en-US" sz="3152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In the random search stage of the Whale Optimization Algorithm (WOA), when A&gt;1 and p&lt;=0.5 whales perform global exploration by randomly updating their positions based on other whales’ locations to search broadly for the prey’s optimal position.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13612" y="-153732"/>
            <a:ext cx="19762905" cy="11116634"/>
          </a:xfrm>
          <a:custGeom>
            <a:avLst/>
            <a:gdLst/>
            <a:ahLst/>
            <a:cxnLst/>
            <a:rect l="l" t="t" r="r" b="b"/>
            <a:pathLst>
              <a:path w="19762905" h="11116634">
                <a:moveTo>
                  <a:pt x="0" y="0"/>
                </a:moveTo>
                <a:lnTo>
                  <a:pt x="19762905" y="0"/>
                </a:lnTo>
                <a:lnTo>
                  <a:pt x="19762905" y="11116634"/>
                </a:lnTo>
                <a:lnTo>
                  <a:pt x="0" y="1111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8918875" y="1028700"/>
            <a:ext cx="8146169" cy="3442816"/>
          </a:xfrm>
          <a:custGeom>
            <a:avLst/>
            <a:gdLst/>
            <a:ahLst/>
            <a:cxnLst/>
            <a:rect l="l" t="t" r="r" b="b"/>
            <a:pathLst>
              <a:path w="8146169" h="3442816">
                <a:moveTo>
                  <a:pt x="0" y="0"/>
                </a:moveTo>
                <a:lnTo>
                  <a:pt x="8146169" y="0"/>
                </a:lnTo>
                <a:lnTo>
                  <a:pt x="8146169" y="3442816"/>
                </a:lnTo>
                <a:lnTo>
                  <a:pt x="0" y="3442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671125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71211"/>
            <a:ext cx="6114029" cy="350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44"/>
              </a:lnSpc>
            </a:pPr>
            <a:r>
              <a:rPr lang="en-US" sz="740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Surrounding Prey Stage</a:t>
            </a:r>
          </a:p>
          <a:p>
            <a:pPr algn="l">
              <a:lnSpc>
                <a:spcPts val="10040"/>
              </a:lnSpc>
            </a:pPr>
            <a:endParaRPr lang="en-US" sz="7407" b="1">
              <a:solidFill>
                <a:srgbClr val="1C21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41302" y="5133975"/>
            <a:ext cx="10014649" cy="3727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9"/>
              </a:lnSpc>
            </a:pPr>
            <a:r>
              <a:rPr lang="en-US" sz="3201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In the prey-surrounding stage of the Whale Optimization Algorithm (WOA), when A&lt;1 and p&lt;0.5 whales stop random exploration and update their positions toward the current best solution, forming a spiral movement around the prey to gradually converge to the optimal position.</a:t>
            </a:r>
          </a:p>
          <a:p>
            <a:pPr algn="just">
              <a:lnSpc>
                <a:spcPts val="3649"/>
              </a:lnSpc>
            </a:pPr>
            <a:endParaRPr lang="en-US" sz="3201">
              <a:solidFill>
                <a:srgbClr val="1C21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13612" y="-153732"/>
            <a:ext cx="19762905" cy="11116634"/>
          </a:xfrm>
          <a:custGeom>
            <a:avLst/>
            <a:gdLst/>
            <a:ahLst/>
            <a:cxnLst/>
            <a:rect l="l" t="t" r="r" b="b"/>
            <a:pathLst>
              <a:path w="19762905" h="11116634">
                <a:moveTo>
                  <a:pt x="0" y="0"/>
                </a:moveTo>
                <a:lnTo>
                  <a:pt x="19762905" y="0"/>
                </a:lnTo>
                <a:lnTo>
                  <a:pt x="19762905" y="11116634"/>
                </a:lnTo>
                <a:lnTo>
                  <a:pt x="0" y="1111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7547128" y="2775527"/>
            <a:ext cx="9574474" cy="2190161"/>
          </a:xfrm>
          <a:custGeom>
            <a:avLst/>
            <a:gdLst/>
            <a:ahLst/>
            <a:cxnLst/>
            <a:rect l="l" t="t" r="r" b="b"/>
            <a:pathLst>
              <a:path w="9574474" h="2190161">
                <a:moveTo>
                  <a:pt x="0" y="0"/>
                </a:moveTo>
                <a:lnTo>
                  <a:pt x="9574473" y="0"/>
                </a:lnTo>
                <a:lnTo>
                  <a:pt x="9574473" y="2190161"/>
                </a:lnTo>
                <a:lnTo>
                  <a:pt x="0" y="21901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90600"/>
            <a:ext cx="13300435" cy="1372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0"/>
              </a:lnSpc>
            </a:pPr>
            <a:r>
              <a:rPr lang="en-US" sz="880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Bubble Net Predation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791444"/>
            <a:ext cx="10398817" cy="2911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9"/>
              </a:lnSpc>
            </a:pPr>
            <a:r>
              <a:rPr lang="en-US" sz="3323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In the hunting stage of the Whale Optimization Algorithm (WOA), when A&lt;1 and p&gt;=0.5, the whales employ a bubble-net attack strategy, using spiral movements around the best solution to simulate encircling and capturing the prey, thus finalizing the optimization process.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13612" y="-153732"/>
            <a:ext cx="19762905" cy="11116634"/>
          </a:xfrm>
          <a:custGeom>
            <a:avLst/>
            <a:gdLst/>
            <a:ahLst/>
            <a:cxnLst/>
            <a:rect l="l" t="t" r="r" b="b"/>
            <a:pathLst>
              <a:path w="19762905" h="11116634">
                <a:moveTo>
                  <a:pt x="0" y="0"/>
                </a:moveTo>
                <a:lnTo>
                  <a:pt x="19762905" y="0"/>
                </a:lnTo>
                <a:lnTo>
                  <a:pt x="19762905" y="11116634"/>
                </a:lnTo>
                <a:lnTo>
                  <a:pt x="0" y="1111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3671125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id="4" name="Freeform 4"/>
          <p:cNvSpPr/>
          <p:nvPr/>
        </p:nvSpPr>
        <p:spPr>
          <a:xfrm>
            <a:off x="6502180" y="1028700"/>
            <a:ext cx="10619422" cy="7954384"/>
          </a:xfrm>
          <a:custGeom>
            <a:avLst/>
            <a:gdLst/>
            <a:ahLst/>
            <a:cxnLst/>
            <a:rect l="l" t="t" r="r" b="b"/>
            <a:pathLst>
              <a:path w="10619422" h="7954384">
                <a:moveTo>
                  <a:pt x="0" y="0"/>
                </a:moveTo>
                <a:lnTo>
                  <a:pt x="10619421" y="0"/>
                </a:lnTo>
                <a:lnTo>
                  <a:pt x="10619421" y="7954384"/>
                </a:lnTo>
                <a:lnTo>
                  <a:pt x="0" y="79543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629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3110958"/>
            <a:ext cx="6114029" cy="2644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0"/>
              </a:lnSpc>
            </a:pPr>
            <a:r>
              <a:rPr lang="en-US" sz="880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Block</a:t>
            </a:r>
          </a:p>
          <a:p>
            <a:pPr algn="l">
              <a:lnSpc>
                <a:spcPts val="10040"/>
              </a:lnSpc>
            </a:pPr>
            <a:r>
              <a:rPr lang="en-US" sz="880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13612" y="-153732"/>
            <a:ext cx="19762905" cy="11116634"/>
          </a:xfrm>
          <a:custGeom>
            <a:avLst/>
            <a:gdLst/>
            <a:ahLst/>
            <a:cxnLst/>
            <a:rect l="l" t="t" r="r" b="b"/>
            <a:pathLst>
              <a:path w="19762905" h="11116634">
                <a:moveTo>
                  <a:pt x="0" y="0"/>
                </a:moveTo>
                <a:lnTo>
                  <a:pt x="19762905" y="0"/>
                </a:lnTo>
                <a:lnTo>
                  <a:pt x="19762905" y="11116634"/>
                </a:lnTo>
                <a:lnTo>
                  <a:pt x="0" y="1111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3671125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990600"/>
            <a:ext cx="13300435" cy="1372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0"/>
              </a:lnSpc>
            </a:pPr>
            <a:r>
              <a:rPr lang="en-US" sz="880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Approach Used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12724" y="2343175"/>
            <a:ext cx="14070764" cy="585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061" lvl="1" indent="-485530" algn="just">
              <a:lnSpc>
                <a:spcPts val="7736"/>
              </a:lnSpc>
              <a:buAutoNum type="arabicPeriod"/>
            </a:pPr>
            <a:r>
              <a:rPr lang="en-US" sz="4497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Feature Extraction</a:t>
            </a:r>
          </a:p>
          <a:p>
            <a:pPr marL="971061" lvl="1" indent="-485530" algn="just">
              <a:lnSpc>
                <a:spcPts val="7736"/>
              </a:lnSpc>
              <a:buAutoNum type="arabicPeriod"/>
            </a:pPr>
            <a:r>
              <a:rPr lang="en-US" sz="4497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Train Test Split and Normalization</a:t>
            </a:r>
          </a:p>
          <a:p>
            <a:pPr marL="971061" lvl="1" indent="-485530" algn="just">
              <a:lnSpc>
                <a:spcPts val="7736"/>
              </a:lnSpc>
              <a:buAutoNum type="arabicPeriod"/>
            </a:pPr>
            <a:r>
              <a:rPr lang="en-US" sz="4497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Baseline SVM Model Training</a:t>
            </a:r>
          </a:p>
          <a:p>
            <a:pPr marL="971061" lvl="1" indent="-485530" algn="just">
              <a:lnSpc>
                <a:spcPts val="7736"/>
              </a:lnSpc>
              <a:buAutoNum type="arabicPeriod"/>
            </a:pPr>
            <a:r>
              <a:rPr lang="en-US" sz="4497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WOA Hyperparameter Tuning(C, gamma)</a:t>
            </a:r>
          </a:p>
          <a:p>
            <a:pPr marL="971061" lvl="1" indent="-485530" algn="just">
              <a:lnSpc>
                <a:spcPts val="7736"/>
              </a:lnSpc>
              <a:buAutoNum type="arabicPeriod"/>
            </a:pPr>
            <a:r>
              <a:rPr lang="en-US" sz="4497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Hyperparameter Tuned Model Training</a:t>
            </a:r>
          </a:p>
          <a:p>
            <a:pPr marL="971061" lvl="1" indent="-485530" algn="just">
              <a:lnSpc>
                <a:spcPts val="7736"/>
              </a:lnSpc>
              <a:buAutoNum type="arabicPeriod"/>
            </a:pPr>
            <a:r>
              <a:rPr lang="en-US" sz="4497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Comparing Tuned Model with Baseline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26163" y="0"/>
            <a:ext cx="19762905" cy="11116634"/>
          </a:xfrm>
          <a:custGeom>
            <a:avLst/>
            <a:gdLst/>
            <a:ahLst/>
            <a:cxnLst/>
            <a:rect l="l" t="t" r="r" b="b"/>
            <a:pathLst>
              <a:path w="19762905" h="11116634">
                <a:moveTo>
                  <a:pt x="0" y="0"/>
                </a:moveTo>
                <a:lnTo>
                  <a:pt x="19762905" y="0"/>
                </a:lnTo>
                <a:lnTo>
                  <a:pt x="19762905" y="11116634"/>
                </a:lnTo>
                <a:lnTo>
                  <a:pt x="0" y="1111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1538724" y="3309572"/>
            <a:ext cx="5120602" cy="5120602"/>
          </a:xfrm>
          <a:custGeom>
            <a:avLst/>
            <a:gdLst/>
            <a:ahLst/>
            <a:cxnLst/>
            <a:rect l="l" t="t" r="r" b="b"/>
            <a:pathLst>
              <a:path w="5120602" h="5120602">
                <a:moveTo>
                  <a:pt x="0" y="0"/>
                </a:moveTo>
                <a:lnTo>
                  <a:pt x="5120602" y="0"/>
                </a:lnTo>
                <a:lnTo>
                  <a:pt x="5120602" y="5120602"/>
                </a:lnTo>
                <a:lnTo>
                  <a:pt x="0" y="5120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671125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1014" y="1141273"/>
            <a:ext cx="16885971" cy="174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0"/>
              </a:lnSpc>
            </a:pPr>
            <a:r>
              <a:rPr lang="en-US" sz="880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UC Merced Land Use Dataset</a:t>
            </a:r>
          </a:p>
          <a:p>
            <a:pPr algn="l">
              <a:lnSpc>
                <a:spcPts val="3191"/>
              </a:lnSpc>
            </a:pPr>
            <a:endParaRPr lang="en-US" sz="8807" b="1">
              <a:solidFill>
                <a:srgbClr val="1C21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01014" y="3922846"/>
            <a:ext cx="10398817" cy="2431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9"/>
              </a:lnSpc>
            </a:pPr>
            <a:r>
              <a:rPr lang="en-US" sz="3323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The UC Merced Land Use Dataset is a benchmark aerial image dataset containing 21 land-use classes with 100 images each, commonly used for scene classification and remote sensing research.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5630" y="8838057"/>
            <a:ext cx="14899363" cy="360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0"/>
              </a:lnSpc>
              <a:spcBef>
                <a:spcPct val="0"/>
              </a:spcBef>
            </a:pPr>
            <a:r>
              <a:rPr lang="en-US" sz="235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URL:https://www.kaggle.com/datasets/abdulhasibuddin/uc-merced-land-use-dataset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26163" y="0"/>
            <a:ext cx="19762905" cy="11116634"/>
          </a:xfrm>
          <a:custGeom>
            <a:avLst/>
            <a:gdLst/>
            <a:ahLst/>
            <a:cxnLst/>
            <a:rect l="l" t="t" r="r" b="b"/>
            <a:pathLst>
              <a:path w="19762905" h="11116634">
                <a:moveTo>
                  <a:pt x="0" y="0"/>
                </a:moveTo>
                <a:lnTo>
                  <a:pt x="19762905" y="0"/>
                </a:lnTo>
                <a:lnTo>
                  <a:pt x="19762905" y="11116634"/>
                </a:lnTo>
                <a:lnTo>
                  <a:pt x="0" y="1111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1538724" y="3309572"/>
            <a:ext cx="5120602" cy="5120602"/>
          </a:xfrm>
          <a:custGeom>
            <a:avLst/>
            <a:gdLst/>
            <a:ahLst/>
            <a:cxnLst/>
            <a:rect l="l" t="t" r="r" b="b"/>
            <a:pathLst>
              <a:path w="5120602" h="5120602">
                <a:moveTo>
                  <a:pt x="0" y="0"/>
                </a:moveTo>
                <a:lnTo>
                  <a:pt x="5120602" y="0"/>
                </a:lnTo>
                <a:lnTo>
                  <a:pt x="5120602" y="5120602"/>
                </a:lnTo>
                <a:lnTo>
                  <a:pt x="0" y="5120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671125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1014" y="1141273"/>
            <a:ext cx="16885971" cy="174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0"/>
              </a:lnSpc>
            </a:pPr>
            <a:r>
              <a:rPr lang="en-US" sz="880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UC Merced Land Use Dataset</a:t>
            </a:r>
          </a:p>
          <a:p>
            <a:pPr algn="l">
              <a:lnSpc>
                <a:spcPts val="3191"/>
              </a:lnSpc>
            </a:pPr>
            <a:endParaRPr lang="en-US" sz="8807" b="1">
              <a:solidFill>
                <a:srgbClr val="1C21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4274576"/>
            <a:ext cx="17837194" cy="2538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99"/>
              </a:lnSpc>
            </a:pPr>
            <a:r>
              <a:rPr lang="en-US" sz="5701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Baseline Accuracy: 0.9048</a:t>
            </a:r>
          </a:p>
          <a:p>
            <a:pPr algn="just">
              <a:lnSpc>
                <a:spcPts val="6499"/>
              </a:lnSpc>
            </a:pPr>
            <a:r>
              <a:rPr lang="en-US" sz="5701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Tuned Accuracy:    0.9238</a:t>
            </a:r>
          </a:p>
          <a:p>
            <a:pPr algn="just">
              <a:lnSpc>
                <a:spcPts val="6499"/>
              </a:lnSpc>
            </a:pPr>
            <a:r>
              <a:rPr lang="en-US" sz="5701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Improvement:       +0.0190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5630" y="8838057"/>
            <a:ext cx="14899363" cy="360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0"/>
              </a:lnSpc>
              <a:spcBef>
                <a:spcPct val="0"/>
              </a:spcBef>
            </a:pPr>
            <a:r>
              <a:rPr lang="en-US" sz="235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URL:https://www.kaggle.com/datasets/abdulhasibuddin/uc-merced-land-use-dataset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26163" y="0"/>
            <a:ext cx="19762905" cy="11116634"/>
          </a:xfrm>
          <a:custGeom>
            <a:avLst/>
            <a:gdLst/>
            <a:ahLst/>
            <a:cxnLst/>
            <a:rect l="l" t="t" r="r" b="b"/>
            <a:pathLst>
              <a:path w="19762905" h="11116634">
                <a:moveTo>
                  <a:pt x="0" y="0"/>
                </a:moveTo>
                <a:lnTo>
                  <a:pt x="19762905" y="0"/>
                </a:lnTo>
                <a:lnTo>
                  <a:pt x="19762905" y="11116634"/>
                </a:lnTo>
                <a:lnTo>
                  <a:pt x="0" y="1111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028700" y="2452910"/>
            <a:ext cx="7972118" cy="5381179"/>
          </a:xfrm>
          <a:custGeom>
            <a:avLst/>
            <a:gdLst/>
            <a:ahLst/>
            <a:cxnLst/>
            <a:rect l="l" t="t" r="r" b="b"/>
            <a:pathLst>
              <a:path w="7972118" h="5381179">
                <a:moveTo>
                  <a:pt x="0" y="0"/>
                </a:moveTo>
                <a:lnTo>
                  <a:pt x="7972118" y="0"/>
                </a:lnTo>
                <a:lnTo>
                  <a:pt x="7972118" y="5381180"/>
                </a:lnTo>
                <a:lnTo>
                  <a:pt x="0" y="5381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90600"/>
            <a:ext cx="16885971" cy="126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2"/>
              </a:lnSpc>
            </a:pPr>
            <a:r>
              <a:rPr lang="en-US" sz="710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Ultrasound Fetus Dataset</a:t>
            </a:r>
          </a:p>
          <a:p>
            <a:pPr algn="l">
              <a:lnSpc>
                <a:spcPts val="1368"/>
              </a:lnSpc>
            </a:pPr>
            <a:endParaRPr lang="en-US" sz="7107" b="1">
              <a:solidFill>
                <a:srgbClr val="1C21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44000" y="3661806"/>
            <a:ext cx="7566698" cy="2944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45"/>
              </a:lnSpc>
            </a:pPr>
            <a:r>
              <a:rPr lang="en-US" sz="3373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The Ultrasound Fetus Dataset consists of fetal ultrasound images categorized by gestational age or anatomical features, used for medical imaging analysis and classification tasks.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2304" y="8927275"/>
            <a:ext cx="13926979" cy="370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URL:https://www.kaggle.com/datasets/abdulhasibuddin/uc-merced-land-use-dataset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BC85AC9B-8DC5-E1C8-207C-AC7F92BEE851}"/>
              </a:ext>
            </a:extLst>
          </p:cNvPr>
          <p:cNvSpPr txBox="1"/>
          <p:nvPr/>
        </p:nvSpPr>
        <p:spPr>
          <a:xfrm>
            <a:off x="13671125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26163" y="0"/>
            <a:ext cx="19762905" cy="11116634"/>
          </a:xfrm>
          <a:custGeom>
            <a:avLst/>
            <a:gdLst/>
            <a:ahLst/>
            <a:cxnLst/>
            <a:rect l="l" t="t" r="r" b="b"/>
            <a:pathLst>
              <a:path w="19762905" h="11116634">
                <a:moveTo>
                  <a:pt x="0" y="0"/>
                </a:moveTo>
                <a:lnTo>
                  <a:pt x="19762905" y="0"/>
                </a:lnTo>
                <a:lnTo>
                  <a:pt x="19762905" y="11116634"/>
                </a:lnTo>
                <a:lnTo>
                  <a:pt x="0" y="1111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028700" y="2452910"/>
            <a:ext cx="7972118" cy="5381179"/>
          </a:xfrm>
          <a:custGeom>
            <a:avLst/>
            <a:gdLst/>
            <a:ahLst/>
            <a:cxnLst/>
            <a:rect l="l" t="t" r="r" b="b"/>
            <a:pathLst>
              <a:path w="7972118" h="5381179">
                <a:moveTo>
                  <a:pt x="0" y="0"/>
                </a:moveTo>
                <a:lnTo>
                  <a:pt x="7972118" y="0"/>
                </a:lnTo>
                <a:lnTo>
                  <a:pt x="7972118" y="5381180"/>
                </a:lnTo>
                <a:lnTo>
                  <a:pt x="0" y="5381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671125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90600"/>
            <a:ext cx="16885971" cy="126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2"/>
              </a:lnSpc>
            </a:pPr>
            <a:r>
              <a:rPr lang="en-US" sz="710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Ultrasound Fetus Dataset</a:t>
            </a:r>
          </a:p>
          <a:p>
            <a:pPr algn="l">
              <a:lnSpc>
                <a:spcPts val="1368"/>
              </a:lnSpc>
            </a:pPr>
            <a:endParaRPr lang="en-US" sz="7107" b="1">
              <a:solidFill>
                <a:srgbClr val="1C21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44000" y="4377317"/>
            <a:ext cx="8115300" cy="2156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08"/>
              </a:lnSpc>
            </a:pPr>
            <a:r>
              <a:rPr lang="en-US" sz="4832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Baseline Accuracy: 0.7481 Tuned Accuracy: 0.7481 Improvement: +0.0000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26163" y="0"/>
            <a:ext cx="19762905" cy="11116634"/>
          </a:xfrm>
          <a:custGeom>
            <a:avLst/>
            <a:gdLst/>
            <a:ahLst/>
            <a:cxnLst/>
            <a:rect l="l" t="t" r="r" b="b"/>
            <a:pathLst>
              <a:path w="19762905" h="11116634">
                <a:moveTo>
                  <a:pt x="0" y="0"/>
                </a:moveTo>
                <a:lnTo>
                  <a:pt x="19762905" y="0"/>
                </a:lnTo>
                <a:lnTo>
                  <a:pt x="19762905" y="11116634"/>
                </a:lnTo>
                <a:lnTo>
                  <a:pt x="0" y="1111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1626219" y="2337518"/>
            <a:ext cx="5351645" cy="5351645"/>
          </a:xfrm>
          <a:custGeom>
            <a:avLst/>
            <a:gdLst/>
            <a:ahLst/>
            <a:cxnLst/>
            <a:rect l="l" t="t" r="r" b="b"/>
            <a:pathLst>
              <a:path w="5351645" h="5351645">
                <a:moveTo>
                  <a:pt x="0" y="0"/>
                </a:moveTo>
                <a:lnTo>
                  <a:pt x="5351645" y="0"/>
                </a:lnTo>
                <a:lnTo>
                  <a:pt x="5351645" y="5351645"/>
                </a:lnTo>
                <a:lnTo>
                  <a:pt x="0" y="5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671125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3113" y="990600"/>
            <a:ext cx="16885971" cy="126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2"/>
              </a:lnSpc>
            </a:pPr>
            <a:r>
              <a:rPr lang="en-US" sz="710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AID: A scene classification dataset</a:t>
            </a:r>
          </a:p>
          <a:p>
            <a:pPr algn="l">
              <a:lnSpc>
                <a:spcPts val="1368"/>
              </a:lnSpc>
            </a:pPr>
            <a:endParaRPr lang="en-US" sz="7107" b="1">
              <a:solidFill>
                <a:srgbClr val="1C21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337896"/>
            <a:ext cx="9232480" cy="257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17"/>
              </a:lnSpc>
            </a:pPr>
            <a:r>
              <a:rPr lang="en-US" sz="3523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AID is a large-scale aerial scene classification dataset containing diverse high-resolution images across multiple land-use categories for remote sensing research.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3113" y="8887587"/>
            <a:ext cx="14573250" cy="370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spcBef>
                <a:spcPct val="0"/>
              </a:spcBef>
            </a:pPr>
            <a:r>
              <a:rPr lang="en-US" sz="2400" b="1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4" tooltip="https://www.kaggle.com/datasets/jiayuanchengala/aid-scene-classification-datasets"/>
              </a:rPr>
              <a:t>URL</a:t>
            </a:r>
            <a:r>
              <a:rPr lang="en-US" sz="2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:https://www.kaggle.com/datasets/jiayuanchengala/aid-scene-classification-datasets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26163" y="0"/>
            <a:ext cx="19762905" cy="11116634"/>
          </a:xfrm>
          <a:custGeom>
            <a:avLst/>
            <a:gdLst/>
            <a:ahLst/>
            <a:cxnLst/>
            <a:rect l="l" t="t" r="r" b="b"/>
            <a:pathLst>
              <a:path w="19762905" h="11116634">
                <a:moveTo>
                  <a:pt x="0" y="0"/>
                </a:moveTo>
                <a:lnTo>
                  <a:pt x="19762905" y="0"/>
                </a:lnTo>
                <a:lnTo>
                  <a:pt x="19762905" y="11116634"/>
                </a:lnTo>
                <a:lnTo>
                  <a:pt x="0" y="1111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1626219" y="2337518"/>
            <a:ext cx="5351645" cy="5351645"/>
          </a:xfrm>
          <a:custGeom>
            <a:avLst/>
            <a:gdLst/>
            <a:ahLst/>
            <a:cxnLst/>
            <a:rect l="l" t="t" r="r" b="b"/>
            <a:pathLst>
              <a:path w="5351645" h="5351645">
                <a:moveTo>
                  <a:pt x="0" y="0"/>
                </a:moveTo>
                <a:lnTo>
                  <a:pt x="5351645" y="0"/>
                </a:lnTo>
                <a:lnTo>
                  <a:pt x="5351645" y="5351645"/>
                </a:lnTo>
                <a:lnTo>
                  <a:pt x="0" y="5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671125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3113" y="990600"/>
            <a:ext cx="16885971" cy="126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2"/>
              </a:lnSpc>
            </a:pPr>
            <a:r>
              <a:rPr lang="en-US" sz="710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AID: A scene classification dataset</a:t>
            </a:r>
          </a:p>
          <a:p>
            <a:pPr algn="l">
              <a:lnSpc>
                <a:spcPts val="1368"/>
              </a:lnSpc>
            </a:pPr>
            <a:endParaRPr lang="en-US" sz="7107" b="1">
              <a:solidFill>
                <a:srgbClr val="1C21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23113" y="8887587"/>
            <a:ext cx="14573250" cy="370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spcBef>
                <a:spcPct val="0"/>
              </a:spcBef>
            </a:pPr>
            <a:r>
              <a:rPr lang="en-US" sz="2400" b="1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4" tooltip="https://www.kaggle.com/datasets/jiayuanchengala/aid-scene-classification-datasets"/>
              </a:rPr>
              <a:t>URL</a:t>
            </a:r>
            <a:r>
              <a:rPr lang="en-US" sz="2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:https://www.kaggle.com/datasets/jiayuanchengala/aid-scene-classification-datasets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729599"/>
            <a:ext cx="17837194" cy="2538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99"/>
              </a:lnSpc>
            </a:pPr>
            <a:r>
              <a:rPr lang="en-US" sz="5701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Baseline Accuracy: 0.8815 </a:t>
            </a:r>
          </a:p>
          <a:p>
            <a:pPr algn="just">
              <a:lnSpc>
                <a:spcPts val="6499"/>
              </a:lnSpc>
            </a:pPr>
            <a:r>
              <a:rPr lang="en-US" sz="5701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Tuned Accuracy: 0.8910 </a:t>
            </a:r>
          </a:p>
          <a:p>
            <a:pPr algn="just">
              <a:lnSpc>
                <a:spcPts val="6499"/>
              </a:lnSpc>
            </a:pPr>
            <a:r>
              <a:rPr lang="en-US" sz="5701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Improvement: +0.0095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26163" y="0"/>
            <a:ext cx="19762905" cy="11116634"/>
          </a:xfrm>
          <a:custGeom>
            <a:avLst/>
            <a:gdLst/>
            <a:ahLst/>
            <a:cxnLst/>
            <a:rect l="l" t="t" r="r" b="b"/>
            <a:pathLst>
              <a:path w="19762905" h="11116634">
                <a:moveTo>
                  <a:pt x="0" y="0"/>
                </a:moveTo>
                <a:lnTo>
                  <a:pt x="19762905" y="0"/>
                </a:lnTo>
                <a:lnTo>
                  <a:pt x="19762905" y="11116634"/>
                </a:lnTo>
                <a:lnTo>
                  <a:pt x="0" y="1111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3671125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719290"/>
            <a:ext cx="16885971" cy="112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2"/>
              </a:lnSpc>
            </a:pPr>
            <a:r>
              <a:rPr lang="en-US" sz="710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Contribution of Members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0217" y="1821201"/>
            <a:ext cx="14847565" cy="246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20"/>
              </a:lnSpc>
            </a:pPr>
            <a:r>
              <a:rPr lang="en-US" sz="5543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TERLI SOAN SAGAR( 24CSB1A65 )</a:t>
            </a:r>
          </a:p>
          <a:p>
            <a:pPr algn="just">
              <a:lnSpc>
                <a:spcPts val="6320"/>
              </a:lnSpc>
            </a:pPr>
            <a:endParaRPr lang="en-US" sz="5543" b="1">
              <a:solidFill>
                <a:srgbClr val="1C212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6320"/>
              </a:lnSpc>
            </a:pPr>
            <a:r>
              <a:rPr lang="en-US" sz="5543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Baseline SVM Model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349479"/>
            <a:ext cx="12132144" cy="4830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7126" lvl="1" indent="-338563" algn="just">
              <a:lnSpc>
                <a:spcPts val="5488"/>
              </a:lnSpc>
              <a:buFont typeface="Arial"/>
              <a:buChar char="•"/>
            </a:pPr>
            <a:r>
              <a:rPr lang="en-US" sz="3136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Built baseline SVM model using RBF kernel.</a:t>
            </a:r>
          </a:p>
          <a:p>
            <a:pPr marL="677126" lvl="1" indent="-338563" algn="just">
              <a:lnSpc>
                <a:spcPts val="5488"/>
              </a:lnSpc>
              <a:buFont typeface="Arial"/>
              <a:buChar char="•"/>
            </a:pPr>
            <a:r>
              <a:rPr lang="en-US" sz="3136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Trained model on extracted VGG16 feature embeddings.</a:t>
            </a:r>
          </a:p>
          <a:p>
            <a:pPr marL="677126" lvl="1" indent="-338563" algn="just">
              <a:lnSpc>
                <a:spcPts val="5488"/>
              </a:lnSpc>
              <a:buFont typeface="Arial"/>
              <a:buChar char="•"/>
            </a:pPr>
            <a:r>
              <a:rPr lang="en-US" sz="3136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Used default parameters to assess initial performance.</a:t>
            </a:r>
          </a:p>
          <a:p>
            <a:pPr marL="677126" lvl="1" indent="-338563" algn="just">
              <a:lnSpc>
                <a:spcPts val="5488"/>
              </a:lnSpc>
              <a:buFont typeface="Arial"/>
              <a:buChar char="•"/>
            </a:pPr>
            <a:r>
              <a:rPr lang="en-US" sz="3136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Evaluated model accuracy on unseen test data.</a:t>
            </a:r>
          </a:p>
          <a:p>
            <a:pPr marL="677126" lvl="1" indent="-338563" algn="just">
              <a:lnSpc>
                <a:spcPts val="5488"/>
              </a:lnSpc>
              <a:buFont typeface="Arial"/>
              <a:buChar char="•"/>
            </a:pPr>
            <a:r>
              <a:rPr lang="en-US" sz="3136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Compared results to identify improvement scope.</a:t>
            </a:r>
          </a:p>
          <a:p>
            <a:pPr marL="677126" lvl="1" indent="-338563" algn="just">
              <a:lnSpc>
                <a:spcPts val="5488"/>
              </a:lnSpc>
              <a:buFont typeface="Arial"/>
              <a:buChar char="•"/>
            </a:pPr>
            <a:r>
              <a:rPr lang="en-US" sz="3136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Recorded baseline metrics for future optimization.</a:t>
            </a:r>
          </a:p>
          <a:p>
            <a:pPr algn="just">
              <a:lnSpc>
                <a:spcPts val="5488"/>
              </a:lnSpc>
            </a:pPr>
            <a:endParaRPr lang="en-US" sz="3136">
              <a:solidFill>
                <a:srgbClr val="1C21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26163" y="0"/>
            <a:ext cx="19762905" cy="11116634"/>
          </a:xfrm>
          <a:custGeom>
            <a:avLst/>
            <a:gdLst/>
            <a:ahLst/>
            <a:cxnLst/>
            <a:rect l="l" t="t" r="r" b="b"/>
            <a:pathLst>
              <a:path w="19762905" h="11116634">
                <a:moveTo>
                  <a:pt x="0" y="0"/>
                </a:moveTo>
                <a:lnTo>
                  <a:pt x="19762905" y="0"/>
                </a:lnTo>
                <a:lnTo>
                  <a:pt x="19762905" y="11116634"/>
                </a:lnTo>
                <a:lnTo>
                  <a:pt x="0" y="1111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3671125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1014" y="670415"/>
            <a:ext cx="16885971" cy="112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2"/>
              </a:lnSpc>
            </a:pPr>
            <a:r>
              <a:rPr lang="en-US" sz="710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Contribution of Members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31507" y="1772327"/>
            <a:ext cx="14847565" cy="246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20"/>
              </a:lnSpc>
            </a:pPr>
            <a:r>
              <a:rPr lang="en-US" sz="5543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TUSHAR SAMPLA( 24CSB1A70 )</a:t>
            </a:r>
          </a:p>
          <a:p>
            <a:pPr algn="just">
              <a:lnSpc>
                <a:spcPts val="6320"/>
              </a:lnSpc>
            </a:pPr>
            <a:endParaRPr lang="en-US" sz="5543" b="1">
              <a:solidFill>
                <a:srgbClr val="1C212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6320"/>
              </a:lnSpc>
            </a:pPr>
            <a:r>
              <a:rPr lang="en-US" sz="5543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Train Test Split and Normalisation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136840"/>
            <a:ext cx="13812857" cy="5161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4051" lvl="1" indent="-362025" algn="just">
              <a:lnSpc>
                <a:spcPts val="5868"/>
              </a:lnSpc>
              <a:buFont typeface="Arial"/>
              <a:buChar char="•"/>
            </a:pPr>
            <a:r>
              <a:rPr lang="en-US" sz="3353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Organized dataset into predefined train and test directories.</a:t>
            </a:r>
          </a:p>
          <a:p>
            <a:pPr marL="724051" lvl="1" indent="-362025" algn="just">
              <a:lnSpc>
                <a:spcPts val="5868"/>
              </a:lnSpc>
              <a:buFont typeface="Arial"/>
              <a:buChar char="•"/>
            </a:pPr>
            <a:r>
              <a:rPr lang="en-US" sz="3353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Loaded images efficiently using PyTorch ImageFolder.</a:t>
            </a:r>
          </a:p>
          <a:p>
            <a:pPr marL="724051" lvl="1" indent="-362025" algn="just">
              <a:lnSpc>
                <a:spcPts val="5868"/>
              </a:lnSpc>
              <a:buFont typeface="Arial"/>
              <a:buChar char="•"/>
            </a:pPr>
            <a:r>
              <a:rPr lang="en-US" sz="3353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Ensured balanced class distribution across splits.</a:t>
            </a:r>
          </a:p>
          <a:p>
            <a:pPr marL="724051" lvl="1" indent="-362025" algn="just">
              <a:lnSpc>
                <a:spcPts val="5868"/>
              </a:lnSpc>
              <a:buFont typeface="Arial"/>
              <a:buChar char="•"/>
            </a:pPr>
            <a:r>
              <a:rPr lang="en-US" sz="3353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Extracted features separately for training and testing data.</a:t>
            </a:r>
          </a:p>
          <a:p>
            <a:pPr marL="724051" lvl="1" indent="-362025" algn="just">
              <a:lnSpc>
                <a:spcPts val="5868"/>
              </a:lnSpc>
              <a:buFont typeface="Arial"/>
              <a:buChar char="•"/>
            </a:pPr>
            <a:r>
              <a:rPr lang="en-US" sz="3353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Applied StandardScaler for consistent feature normalization.</a:t>
            </a:r>
          </a:p>
          <a:p>
            <a:pPr marL="724051" lvl="1" indent="-362025" algn="just">
              <a:lnSpc>
                <a:spcPts val="5868"/>
              </a:lnSpc>
              <a:buFont typeface="Arial"/>
              <a:buChar char="•"/>
            </a:pPr>
            <a:r>
              <a:rPr lang="en-US" sz="3353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Verified scaled data readiness for SVM training.</a:t>
            </a:r>
          </a:p>
          <a:p>
            <a:pPr algn="just">
              <a:lnSpc>
                <a:spcPts val="5868"/>
              </a:lnSpc>
            </a:pPr>
            <a:endParaRPr lang="en-US" sz="3353">
              <a:solidFill>
                <a:srgbClr val="1C21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26163" y="0"/>
            <a:ext cx="19762905" cy="11116634"/>
          </a:xfrm>
          <a:custGeom>
            <a:avLst/>
            <a:gdLst/>
            <a:ahLst/>
            <a:cxnLst/>
            <a:rect l="l" t="t" r="r" b="b"/>
            <a:pathLst>
              <a:path w="19762905" h="11116634">
                <a:moveTo>
                  <a:pt x="0" y="0"/>
                </a:moveTo>
                <a:lnTo>
                  <a:pt x="19762905" y="0"/>
                </a:lnTo>
                <a:lnTo>
                  <a:pt x="19762905" y="11116634"/>
                </a:lnTo>
                <a:lnTo>
                  <a:pt x="0" y="1111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3671125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1014" y="719290"/>
            <a:ext cx="16885971" cy="112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2"/>
              </a:lnSpc>
            </a:pPr>
            <a:r>
              <a:rPr lang="en-US" sz="710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Contribution of Members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306149"/>
            <a:ext cx="16230600" cy="225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96"/>
              </a:lnSpc>
            </a:pPr>
            <a:r>
              <a:rPr lang="en-US" sz="5084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RAJWARDHAN SINGH (24CSB1A52)</a:t>
            </a:r>
          </a:p>
          <a:p>
            <a:pPr algn="just">
              <a:lnSpc>
                <a:spcPts val="5796"/>
              </a:lnSpc>
            </a:pPr>
            <a:endParaRPr lang="en-US" sz="5084" b="1">
              <a:solidFill>
                <a:srgbClr val="1C212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5796"/>
              </a:lnSpc>
            </a:pPr>
            <a:r>
              <a:rPr lang="en-US" sz="5084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Conceptualisation, Feature Extraction, and WOA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798" y="4364194"/>
            <a:ext cx="16001700" cy="482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753" lvl="1" indent="-337877" algn="just">
              <a:lnSpc>
                <a:spcPts val="5477"/>
              </a:lnSpc>
              <a:buFont typeface="Arial"/>
              <a:buChar char="•"/>
            </a:pPr>
            <a:r>
              <a:rPr lang="en-US" sz="3129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Designed complete workflow integrating CNN features, SVM, and WOA.</a:t>
            </a:r>
          </a:p>
          <a:p>
            <a:pPr marL="675753" lvl="1" indent="-337877" algn="just">
              <a:lnSpc>
                <a:spcPts val="5477"/>
              </a:lnSpc>
              <a:buFont typeface="Arial"/>
              <a:buChar char="•"/>
            </a:pPr>
            <a:r>
              <a:rPr lang="en-US" sz="3129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Planned pipeline for preprocessing, training, and evaluation.</a:t>
            </a:r>
          </a:p>
          <a:p>
            <a:pPr marL="675753" lvl="1" indent="-337877" algn="just">
              <a:lnSpc>
                <a:spcPts val="5477"/>
              </a:lnSpc>
              <a:buFont typeface="Arial"/>
              <a:buChar char="•"/>
            </a:pPr>
            <a:r>
              <a:rPr lang="en-US" sz="3129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Utilized pre-trained VGG16 for extracting deep visual features.</a:t>
            </a:r>
          </a:p>
          <a:p>
            <a:pPr marL="675753" lvl="1" indent="-337877" algn="just">
              <a:lnSpc>
                <a:spcPts val="5477"/>
              </a:lnSpc>
              <a:buFont typeface="Arial"/>
              <a:buChar char="•"/>
            </a:pPr>
            <a:r>
              <a:rPr lang="en-US" sz="3129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Applied global average pooling to reduce feature dimensions.</a:t>
            </a:r>
          </a:p>
          <a:p>
            <a:pPr marL="675753" lvl="1" indent="-337877" algn="just">
              <a:lnSpc>
                <a:spcPts val="5477"/>
              </a:lnSpc>
              <a:buFont typeface="Arial"/>
              <a:buChar char="•"/>
            </a:pPr>
            <a:r>
              <a:rPr lang="en-US" sz="3129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Implemented Whale Optimization Algorithm for SVM hyperparameter tuning.</a:t>
            </a:r>
          </a:p>
          <a:p>
            <a:pPr marL="675753" lvl="1" indent="-337877" algn="just">
              <a:lnSpc>
                <a:spcPts val="5477"/>
              </a:lnSpc>
              <a:buFont typeface="Arial"/>
              <a:buChar char="•"/>
            </a:pPr>
            <a:r>
              <a:rPr lang="en-US" sz="3129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Evaluated fitness using cross-validation to refine parameters.</a:t>
            </a:r>
          </a:p>
          <a:p>
            <a:pPr algn="just">
              <a:lnSpc>
                <a:spcPts val="5477"/>
              </a:lnSpc>
            </a:pPr>
            <a:endParaRPr lang="en-US" sz="3129">
              <a:solidFill>
                <a:srgbClr val="1C21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26163" y="0"/>
            <a:ext cx="19762905" cy="11116634"/>
          </a:xfrm>
          <a:custGeom>
            <a:avLst/>
            <a:gdLst/>
            <a:ahLst/>
            <a:cxnLst/>
            <a:rect l="l" t="t" r="r" b="b"/>
            <a:pathLst>
              <a:path w="19762905" h="11116634">
                <a:moveTo>
                  <a:pt x="0" y="0"/>
                </a:moveTo>
                <a:lnTo>
                  <a:pt x="19762905" y="0"/>
                </a:lnTo>
                <a:lnTo>
                  <a:pt x="19762905" y="11116634"/>
                </a:lnTo>
                <a:lnTo>
                  <a:pt x="0" y="1111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3671125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798" y="796211"/>
            <a:ext cx="16885971" cy="112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2"/>
              </a:lnSpc>
            </a:pPr>
            <a:r>
              <a:rPr lang="en-US" sz="710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Contribution of Members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306149"/>
            <a:ext cx="16230600" cy="225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96"/>
              </a:lnSpc>
            </a:pPr>
            <a:r>
              <a:rPr lang="en-US" sz="5084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K.AKHIL YADAV ( 24CSB1A26 )</a:t>
            </a:r>
          </a:p>
          <a:p>
            <a:pPr algn="just">
              <a:lnSpc>
                <a:spcPts val="5796"/>
              </a:lnSpc>
            </a:pPr>
            <a:endParaRPr lang="en-US" sz="5084" b="1">
              <a:solidFill>
                <a:srgbClr val="1C212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5796"/>
              </a:lnSpc>
            </a:pPr>
            <a:r>
              <a:rPr lang="en-US" sz="5084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 Evaluation of Final Model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798" y="4364194"/>
            <a:ext cx="16001700" cy="482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753" lvl="1" indent="-337877" algn="just">
              <a:lnSpc>
                <a:spcPts val="5477"/>
              </a:lnSpc>
              <a:buFont typeface="Arial"/>
              <a:buChar char="•"/>
            </a:pPr>
            <a:r>
              <a:rPr lang="en-US" sz="3129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Loaded best SVM model with optimized hyperparameters.</a:t>
            </a:r>
          </a:p>
          <a:p>
            <a:pPr marL="675753" lvl="1" indent="-337877" algn="just">
              <a:lnSpc>
                <a:spcPts val="5477"/>
              </a:lnSpc>
              <a:buFont typeface="Arial"/>
              <a:buChar char="•"/>
            </a:pPr>
            <a:r>
              <a:rPr lang="en-US" sz="3129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Tested model on unseen test dataset for accuracy.</a:t>
            </a:r>
          </a:p>
          <a:p>
            <a:pPr marL="675753" lvl="1" indent="-337877" algn="just">
              <a:lnSpc>
                <a:spcPts val="5477"/>
              </a:lnSpc>
              <a:buFont typeface="Arial"/>
              <a:buChar char="•"/>
            </a:pPr>
            <a:r>
              <a:rPr lang="en-US" sz="3129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Predicted labels using final trained SVM.</a:t>
            </a:r>
          </a:p>
          <a:p>
            <a:pPr marL="675753" lvl="1" indent="-337877" algn="just">
              <a:lnSpc>
                <a:spcPts val="5477"/>
              </a:lnSpc>
              <a:buFont typeface="Arial"/>
              <a:buChar char="•"/>
            </a:pPr>
            <a:r>
              <a:rPr lang="en-US" sz="3129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Calculated accuracy score for performance assessment.</a:t>
            </a:r>
          </a:p>
          <a:p>
            <a:pPr marL="675753" lvl="1" indent="-337877" algn="just">
              <a:lnSpc>
                <a:spcPts val="5477"/>
              </a:lnSpc>
              <a:buFont typeface="Arial"/>
              <a:buChar char="•"/>
            </a:pPr>
            <a:r>
              <a:rPr lang="en-US" sz="3129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Compared tuned model accuracy against baseline results.</a:t>
            </a:r>
          </a:p>
          <a:p>
            <a:pPr marL="675753" lvl="1" indent="-337877" algn="just">
              <a:lnSpc>
                <a:spcPts val="5477"/>
              </a:lnSpc>
              <a:buFont typeface="Arial"/>
              <a:buChar char="•"/>
            </a:pPr>
            <a:r>
              <a:rPr lang="en-US" sz="3129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Documented evaluation metrics for reporting and analysis.</a:t>
            </a:r>
          </a:p>
          <a:p>
            <a:pPr algn="just">
              <a:lnSpc>
                <a:spcPts val="5477"/>
              </a:lnSpc>
            </a:pPr>
            <a:endParaRPr lang="en-US" sz="3129">
              <a:solidFill>
                <a:srgbClr val="1C21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26163" y="0"/>
            <a:ext cx="19762905" cy="11116634"/>
          </a:xfrm>
          <a:custGeom>
            <a:avLst/>
            <a:gdLst/>
            <a:ahLst/>
            <a:cxnLst/>
            <a:rect l="l" t="t" r="r" b="b"/>
            <a:pathLst>
              <a:path w="19762905" h="11116634">
                <a:moveTo>
                  <a:pt x="0" y="0"/>
                </a:moveTo>
                <a:lnTo>
                  <a:pt x="19762905" y="0"/>
                </a:lnTo>
                <a:lnTo>
                  <a:pt x="19762905" y="11116634"/>
                </a:lnTo>
                <a:lnTo>
                  <a:pt x="0" y="1111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3671125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990600"/>
            <a:ext cx="16885971" cy="112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2"/>
              </a:lnSpc>
            </a:pPr>
            <a:r>
              <a:rPr lang="en-US" sz="710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Novelty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9990" y="2565143"/>
            <a:ext cx="14590446" cy="682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9321" lvl="1" indent="-464661" algn="l">
              <a:lnSpc>
                <a:spcPts val="4907"/>
              </a:lnSpc>
              <a:buFont typeface="Arial"/>
              <a:buChar char="•"/>
            </a:pPr>
            <a:r>
              <a:rPr lang="en-US" sz="4304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Implementing the model after feature extraction on extracted features saved a lot of computational power.</a:t>
            </a:r>
          </a:p>
          <a:p>
            <a:pPr algn="l">
              <a:lnSpc>
                <a:spcPts val="4907"/>
              </a:lnSpc>
            </a:pPr>
            <a:endParaRPr lang="en-US" sz="4304">
              <a:solidFill>
                <a:srgbClr val="1C21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29321" lvl="1" indent="-464661" algn="l">
              <a:lnSpc>
                <a:spcPts val="4907"/>
              </a:lnSpc>
              <a:buFont typeface="Arial"/>
              <a:buChar char="•"/>
            </a:pPr>
            <a:r>
              <a:rPr lang="en-US" sz="4304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Used a baseline model to get good parameters and used those baseline parameters to tune the model further.</a:t>
            </a:r>
          </a:p>
          <a:p>
            <a:pPr algn="l">
              <a:lnSpc>
                <a:spcPts val="4907"/>
              </a:lnSpc>
            </a:pPr>
            <a:endParaRPr lang="en-US" sz="4304">
              <a:solidFill>
                <a:srgbClr val="1C21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29321" lvl="1" indent="-464661" algn="l">
              <a:lnSpc>
                <a:spcPts val="4907"/>
              </a:lnSpc>
              <a:buFont typeface="Arial"/>
              <a:buChar char="•"/>
            </a:pPr>
            <a:r>
              <a:rPr lang="en-US" sz="4304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The baseline parameters help the WOA to be near the optimal result beforehand which helps a lot in further optimization.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26163" y="0"/>
            <a:ext cx="19762905" cy="11116634"/>
          </a:xfrm>
          <a:custGeom>
            <a:avLst/>
            <a:gdLst/>
            <a:ahLst/>
            <a:cxnLst/>
            <a:rect l="l" t="t" r="r" b="b"/>
            <a:pathLst>
              <a:path w="19762905" h="11116634">
                <a:moveTo>
                  <a:pt x="0" y="0"/>
                </a:moveTo>
                <a:lnTo>
                  <a:pt x="19762905" y="0"/>
                </a:lnTo>
                <a:lnTo>
                  <a:pt x="19762905" y="11116634"/>
                </a:lnTo>
                <a:lnTo>
                  <a:pt x="0" y="1111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3678916" y="3648480"/>
            <a:ext cx="11458261" cy="225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50"/>
              </a:lnSpc>
            </a:pPr>
            <a:r>
              <a:rPr lang="en-US" sz="1443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766</Words>
  <Application>Microsoft Office PowerPoint</Application>
  <PresentationFormat>Custom</PresentationFormat>
  <Paragraphs>110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Poppins</vt:lpstr>
      <vt:lpstr>Arial</vt:lpstr>
      <vt:lpstr>Open Sauce</vt:lpstr>
      <vt:lpstr>Poppins Italics</vt:lpstr>
      <vt:lpstr>Calibri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Now?</dc:title>
  <cp:lastModifiedBy>rajwardhan singh</cp:lastModifiedBy>
  <cp:revision>2</cp:revision>
  <dcterms:created xsi:type="dcterms:W3CDTF">2006-08-16T00:00:00Z</dcterms:created>
  <dcterms:modified xsi:type="dcterms:W3CDTF">2025-10-18T03:43:30Z</dcterms:modified>
  <dc:identifier>DAG2EaQe74o</dc:identifier>
</cp:coreProperties>
</file>